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4875" y="236109"/>
            <a:ext cx="117819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 err="1">
                <a:solidFill>
                  <a:srgbClr val="374151"/>
                </a:solidFill>
              </a:rPr>
              <a:t>Đọc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sz="4400" b="1" dirty="0" err="1">
                <a:solidFill>
                  <a:srgbClr val="374151"/>
                </a:solidFill>
              </a:rPr>
              <a:t>Dễ</a:t>
            </a:r>
            <a:r>
              <a:rPr sz="4400" b="1" dirty="0">
                <a:solidFill>
                  <a:srgbClr val="374151"/>
                </a:solidFill>
              </a:rPr>
              <a:t> – </a:t>
            </a:r>
            <a:r>
              <a:rPr sz="4400" b="1" dirty="0" err="1">
                <a:solidFill>
                  <a:srgbClr val="374151"/>
                </a:solidFill>
              </a:rPr>
              <a:t>Ứng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sz="4400" b="1" dirty="0" err="1">
                <a:solidFill>
                  <a:srgbClr val="374151"/>
                </a:solidFill>
              </a:rPr>
              <a:t>dụng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sz="4400" b="1" dirty="0" err="1">
                <a:solidFill>
                  <a:srgbClr val="374151"/>
                </a:solidFill>
              </a:rPr>
              <a:t>hỗ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sz="4400" b="1" dirty="0" err="1">
                <a:solidFill>
                  <a:srgbClr val="374151"/>
                </a:solidFill>
              </a:rPr>
              <a:t>trợ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sz="4400" b="1" dirty="0" err="1">
                <a:solidFill>
                  <a:srgbClr val="374151"/>
                </a:solidFill>
              </a:rPr>
              <a:t>trẻ</a:t>
            </a:r>
            <a:r>
              <a:rPr sz="4400" b="1" dirty="0">
                <a:solidFill>
                  <a:srgbClr val="374151"/>
                </a:solidFill>
              </a:rPr>
              <a:t> </a:t>
            </a:r>
            <a:r>
              <a:rPr lang="en-US" sz="4400" b="1" dirty="0" err="1" smtClean="0">
                <a:solidFill>
                  <a:srgbClr val="374151"/>
                </a:solidFill>
              </a:rPr>
              <a:t>mắc</a:t>
            </a:r>
            <a:r>
              <a:rPr lang="en-US" sz="4400" b="1" dirty="0" smtClean="0">
                <a:solidFill>
                  <a:srgbClr val="374151"/>
                </a:solidFill>
              </a:rPr>
              <a:t> </a:t>
            </a:r>
            <a:r>
              <a:rPr lang="en-US" sz="4400" b="1" dirty="0" err="1" smtClean="0">
                <a:solidFill>
                  <a:srgbClr val="374151"/>
                </a:solidFill>
              </a:rPr>
              <a:t>chứng</a:t>
            </a:r>
            <a:r>
              <a:rPr lang="en-US" sz="4400" b="1" dirty="0" smtClean="0">
                <a:solidFill>
                  <a:srgbClr val="374151"/>
                </a:solidFill>
              </a:rPr>
              <a:t> </a:t>
            </a:r>
            <a:r>
              <a:rPr lang="en-US" sz="4400" b="1" dirty="0" err="1" smtClean="0">
                <a:solidFill>
                  <a:srgbClr val="374151"/>
                </a:solidFill>
              </a:rPr>
              <a:t>khó</a:t>
            </a:r>
            <a:r>
              <a:rPr lang="en-US" sz="4400" b="1" dirty="0" smtClean="0">
                <a:solidFill>
                  <a:srgbClr val="374151"/>
                </a:solidFill>
              </a:rPr>
              <a:t> </a:t>
            </a:r>
            <a:r>
              <a:rPr lang="en-US" sz="4400" b="1" dirty="0" err="1" smtClean="0">
                <a:solidFill>
                  <a:srgbClr val="374151"/>
                </a:solidFill>
              </a:rPr>
              <a:t>đọc</a:t>
            </a:r>
            <a:endParaRPr sz="4400" b="1" dirty="0">
              <a:solidFill>
                <a:srgbClr val="37415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87467"/>
            <a:ext cx="3288144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51626F"/>
                </a:solidFill>
              </a:rPr>
              <a:t>• </a:t>
            </a:r>
            <a:r>
              <a:rPr sz="2800" dirty="0" smtClean="0">
                <a:solidFill>
                  <a:srgbClr val="51626F"/>
                </a:solidFill>
              </a:rPr>
              <a:t>Structured </a:t>
            </a:r>
            <a:r>
              <a:rPr sz="2800" dirty="0">
                <a:solidFill>
                  <a:srgbClr val="51626F"/>
                </a:solidFill>
              </a:rPr>
              <a:t>Literacy </a:t>
            </a:r>
            <a:endParaRPr lang="en-US" sz="2800" dirty="0" smtClean="0">
              <a:solidFill>
                <a:srgbClr val="51626F"/>
              </a:solidFill>
            </a:endParaRPr>
          </a:p>
          <a:p>
            <a:r>
              <a:rPr sz="2800" dirty="0" smtClean="0">
                <a:solidFill>
                  <a:srgbClr val="51626F"/>
                </a:solidFill>
              </a:rPr>
              <a:t>• PA</a:t>
            </a:r>
            <a:endParaRPr lang="en-US" sz="2800" dirty="0" smtClean="0">
              <a:solidFill>
                <a:srgbClr val="51626F"/>
              </a:solidFill>
            </a:endParaRPr>
          </a:p>
          <a:p>
            <a:r>
              <a:rPr sz="2800" dirty="0" smtClean="0">
                <a:solidFill>
                  <a:srgbClr val="51626F"/>
                </a:solidFill>
              </a:rPr>
              <a:t>• </a:t>
            </a:r>
            <a:r>
              <a:rPr sz="2800" dirty="0">
                <a:solidFill>
                  <a:srgbClr val="51626F"/>
                </a:solidFill>
              </a:rPr>
              <a:t>Cards (SRS) </a:t>
            </a:r>
            <a:endParaRPr lang="en-US" sz="2800" dirty="0" smtClean="0">
              <a:solidFill>
                <a:srgbClr val="51626F"/>
              </a:solidFill>
            </a:endParaRPr>
          </a:p>
          <a:p>
            <a:r>
              <a:rPr sz="2800" dirty="0" smtClean="0">
                <a:solidFill>
                  <a:srgbClr val="51626F"/>
                </a:solidFill>
              </a:rPr>
              <a:t>• </a:t>
            </a:r>
            <a:r>
              <a:rPr sz="2800" dirty="0" err="1">
                <a:solidFill>
                  <a:srgbClr val="51626F"/>
                </a:solidFill>
              </a:rPr>
              <a:t>Luyện</a:t>
            </a:r>
            <a:r>
              <a:rPr sz="2800" dirty="0">
                <a:solidFill>
                  <a:srgbClr val="51626F"/>
                </a:solidFill>
              </a:rPr>
              <a:t> </a:t>
            </a:r>
            <a:r>
              <a:rPr sz="2800" dirty="0" err="1">
                <a:solidFill>
                  <a:srgbClr val="51626F"/>
                </a:solidFill>
              </a:rPr>
              <a:t>đọc</a:t>
            </a:r>
            <a:r>
              <a:rPr sz="2800" dirty="0">
                <a:solidFill>
                  <a:srgbClr val="51626F"/>
                </a:solidFill>
              </a:rPr>
              <a:t> </a:t>
            </a:r>
            <a:endParaRPr lang="en-US" sz="2800" dirty="0" smtClean="0">
              <a:solidFill>
                <a:srgbClr val="51626F"/>
              </a:solidFill>
            </a:endParaRPr>
          </a:p>
          <a:p>
            <a:r>
              <a:rPr lang="en-US" sz="2800" dirty="0" smtClean="0">
                <a:solidFill>
                  <a:srgbClr val="51626F"/>
                </a:solidFill>
              </a:rPr>
              <a:t>• Game</a:t>
            </a:r>
          </a:p>
          <a:p>
            <a:r>
              <a:rPr sz="2800" dirty="0" smtClean="0">
                <a:solidFill>
                  <a:srgbClr val="51626F"/>
                </a:solidFill>
              </a:rPr>
              <a:t>• </a:t>
            </a:r>
            <a:r>
              <a:rPr sz="2800" dirty="0">
                <a:solidFill>
                  <a:srgbClr val="51626F"/>
                </a:solidFill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6293" y="4365123"/>
            <a:ext cx="2011680" cy="548640"/>
          </a:xfrm>
          <a:prstGeom prst="roundRect">
            <a:avLst/>
          </a:prstGeom>
          <a:solidFill>
            <a:srgbClr val="F4F6FB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sz="2000" dirty="0">
                <a:solidFill>
                  <a:srgbClr val="374151"/>
                </a:solidFill>
              </a:rPr>
              <a:t>Voice UI 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6293" y="5011202"/>
            <a:ext cx="2011680" cy="548640"/>
          </a:xfrm>
          <a:prstGeom prst="roundRect">
            <a:avLst/>
          </a:prstGeom>
          <a:solidFill>
            <a:srgbClr val="F4F6FB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sz="2000" dirty="0">
                <a:solidFill>
                  <a:srgbClr val="374151"/>
                </a:solidFill>
              </a:rPr>
              <a:t>TTS &amp; </a:t>
            </a:r>
            <a:r>
              <a:rPr sz="2000" dirty="0" err="1">
                <a:solidFill>
                  <a:srgbClr val="374151"/>
                </a:solidFill>
              </a:rPr>
              <a:t>Ghi</a:t>
            </a:r>
            <a:r>
              <a:rPr sz="2000" dirty="0">
                <a:solidFill>
                  <a:srgbClr val="374151"/>
                </a:solidFill>
              </a:rPr>
              <a:t> </a:t>
            </a:r>
            <a:r>
              <a:rPr sz="2000" dirty="0" err="1">
                <a:solidFill>
                  <a:srgbClr val="374151"/>
                </a:solidFill>
              </a:rPr>
              <a:t>âm</a:t>
            </a:r>
            <a:endParaRPr sz="2000" dirty="0">
              <a:solidFill>
                <a:srgbClr val="37415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46293" y="5657282"/>
            <a:ext cx="2011680" cy="548640"/>
          </a:xfrm>
          <a:prstGeom prst="roundRect">
            <a:avLst/>
          </a:prstGeom>
          <a:solidFill>
            <a:srgbClr val="F4F6FB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sz="2000" dirty="0">
                <a:solidFill>
                  <a:srgbClr val="374151"/>
                </a:solidFill>
              </a:rPr>
              <a:t>Offline‑first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1228886"/>
            <a:ext cx="5328494" cy="5437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-32554"/>
            <a:ext cx="8229600" cy="1143000"/>
          </a:xfrm>
        </p:spPr>
        <p:txBody>
          <a:bodyPr/>
          <a:lstStyle/>
          <a:p>
            <a:pPr algn="l"/>
            <a:r>
              <a:rPr sz="3400" b="1" dirty="0" err="1">
                <a:solidFill>
                  <a:srgbClr val="374151"/>
                </a:solidFill>
              </a:rPr>
              <a:t>Vấn</a:t>
            </a:r>
            <a:r>
              <a:rPr sz="3400" b="1" dirty="0">
                <a:solidFill>
                  <a:srgbClr val="374151"/>
                </a:solidFill>
              </a:rPr>
              <a:t> </a:t>
            </a:r>
            <a:r>
              <a:rPr sz="3400" b="1" dirty="0" err="1">
                <a:solidFill>
                  <a:srgbClr val="374151"/>
                </a:solidFill>
              </a:rPr>
              <a:t>đề</a:t>
            </a:r>
            <a:r>
              <a:rPr sz="3400" b="1" dirty="0">
                <a:solidFill>
                  <a:srgbClr val="374151"/>
                </a:solidFill>
              </a:rPr>
              <a:t> &amp; </a:t>
            </a:r>
            <a:r>
              <a:rPr sz="3400" b="1" dirty="0" err="1">
                <a:solidFill>
                  <a:srgbClr val="374151"/>
                </a:solidFill>
              </a:rPr>
              <a:t>bối</a:t>
            </a:r>
            <a:r>
              <a:rPr sz="3400" b="1" dirty="0">
                <a:solidFill>
                  <a:srgbClr val="374151"/>
                </a:solidFill>
              </a:rPr>
              <a:t> </a:t>
            </a:r>
            <a:r>
              <a:rPr sz="3400" b="1" dirty="0" err="1">
                <a:solidFill>
                  <a:srgbClr val="374151"/>
                </a:solidFill>
              </a:rPr>
              <a:t>cảnh</a:t>
            </a:r>
            <a:endParaRPr sz="3400" b="1" dirty="0">
              <a:solidFill>
                <a:srgbClr val="37415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948223"/>
            <a:ext cx="10236200" cy="5583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Mục tiêu của Đọc Dễ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652018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sz="2800" dirty="0" smtClean="0"/>
              <a:t>Tự </a:t>
            </a:r>
            <a:r>
              <a:rPr sz="2800" dirty="0" err="1" smtClean="0"/>
              <a:t>động</a:t>
            </a:r>
            <a:r>
              <a:rPr sz="2800" dirty="0" smtClean="0"/>
              <a:t> </a:t>
            </a:r>
            <a:r>
              <a:rPr sz="2800" dirty="0" err="1" smtClean="0"/>
              <a:t>hoá</a:t>
            </a:r>
            <a:r>
              <a:rPr sz="2800" dirty="0" smtClean="0"/>
              <a:t> </a:t>
            </a:r>
            <a:r>
              <a:rPr sz="2800" dirty="0" err="1" smtClean="0"/>
              <a:t>nhận</a:t>
            </a:r>
            <a:r>
              <a:rPr sz="2800" dirty="0" smtClean="0"/>
              <a:t> </a:t>
            </a:r>
            <a:r>
              <a:rPr sz="2800" dirty="0" err="1" smtClean="0"/>
              <a:t>diện</a:t>
            </a:r>
            <a:r>
              <a:rPr sz="2800" dirty="0" smtClean="0"/>
              <a:t>–</a:t>
            </a:r>
            <a:r>
              <a:rPr sz="2800" dirty="0" err="1" smtClean="0"/>
              <a:t>phát</a:t>
            </a:r>
            <a:r>
              <a:rPr sz="2800" dirty="0" smtClean="0"/>
              <a:t> </a:t>
            </a:r>
            <a:r>
              <a:rPr sz="2800" dirty="0" err="1" smtClean="0"/>
              <a:t>âm</a:t>
            </a:r>
            <a:r>
              <a:rPr sz="2800" dirty="0" smtClean="0"/>
              <a:t> </a:t>
            </a:r>
            <a:r>
              <a:rPr sz="2800" dirty="0" err="1" smtClean="0"/>
              <a:t>tiếng</a:t>
            </a:r>
            <a:r>
              <a:rPr sz="2800" dirty="0" smtClean="0"/>
              <a:t> </a:t>
            </a:r>
            <a:r>
              <a:rPr sz="2800" dirty="0" err="1" smtClean="0"/>
              <a:t>Việt</a:t>
            </a:r>
            <a:r>
              <a:rPr sz="2800" dirty="0" smtClean="0"/>
              <a:t> </a:t>
            </a:r>
            <a:r>
              <a:rPr sz="2800" dirty="0" err="1" smtClean="0"/>
              <a:t>có</a:t>
            </a:r>
            <a:r>
              <a:rPr sz="2800" dirty="0" smtClean="0"/>
              <a:t> </a:t>
            </a:r>
            <a:r>
              <a:rPr sz="2800" dirty="0" err="1" smtClean="0"/>
              <a:t>dấu</a:t>
            </a:r>
            <a:r>
              <a:rPr sz="2800" dirty="0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sz="2800" dirty="0" err="1" smtClean="0"/>
              <a:t>Giảm</a:t>
            </a:r>
            <a:r>
              <a:rPr sz="2800" dirty="0" smtClean="0"/>
              <a:t> </a:t>
            </a:r>
            <a:r>
              <a:rPr sz="2800" dirty="0" err="1" smtClean="0"/>
              <a:t>lỗi</a:t>
            </a:r>
            <a:r>
              <a:rPr sz="2800" dirty="0" smtClean="0"/>
              <a:t> </a:t>
            </a:r>
            <a:r>
              <a:rPr sz="2800" dirty="0" err="1" smtClean="0"/>
              <a:t>chính</a:t>
            </a:r>
            <a:r>
              <a:rPr sz="2800" dirty="0" smtClean="0"/>
              <a:t> </a:t>
            </a:r>
            <a:r>
              <a:rPr sz="2800" dirty="0" err="1" smtClean="0"/>
              <a:t>tả</a:t>
            </a:r>
            <a:r>
              <a:rPr sz="2800" dirty="0" smtClean="0"/>
              <a:t> </a:t>
            </a:r>
            <a:r>
              <a:rPr sz="2800" dirty="0" err="1" smtClean="0"/>
              <a:t>theo</a:t>
            </a:r>
            <a:r>
              <a:rPr sz="2800" dirty="0" smtClean="0"/>
              <a:t> </a:t>
            </a:r>
            <a:r>
              <a:rPr sz="2800" dirty="0" err="1" smtClean="0"/>
              <a:t>ngữ</a:t>
            </a:r>
            <a:r>
              <a:rPr sz="2800" dirty="0" smtClean="0"/>
              <a:t> </a:t>
            </a:r>
            <a:r>
              <a:rPr sz="2800" dirty="0" err="1" smtClean="0"/>
              <a:t>cảnh</a:t>
            </a:r>
            <a:r>
              <a:rPr sz="2800" dirty="0" smtClean="0"/>
              <a:t> (s/x; </a:t>
            </a:r>
            <a:r>
              <a:rPr sz="2800" dirty="0" err="1" smtClean="0"/>
              <a:t>ch</a:t>
            </a:r>
            <a:r>
              <a:rPr sz="2800" dirty="0" smtClean="0"/>
              <a:t>/</a:t>
            </a:r>
            <a:r>
              <a:rPr sz="2800" dirty="0" err="1" smtClean="0"/>
              <a:t>tr</a:t>
            </a:r>
            <a:r>
              <a:rPr sz="2800" dirty="0" smtClean="0"/>
              <a:t>; ng/</a:t>
            </a:r>
            <a:r>
              <a:rPr sz="2800" dirty="0" err="1" smtClean="0"/>
              <a:t>ngh</a:t>
            </a:r>
            <a:r>
              <a:rPr sz="2800" dirty="0" smtClean="0"/>
              <a:t>; g/</a:t>
            </a:r>
            <a:r>
              <a:rPr sz="2800" dirty="0" err="1" smtClean="0"/>
              <a:t>gh</a:t>
            </a:r>
            <a:r>
              <a:rPr sz="2800" dirty="0" smtClean="0"/>
              <a:t>; c/k/</a:t>
            </a:r>
            <a:r>
              <a:rPr sz="2800" dirty="0" err="1" smtClean="0"/>
              <a:t>qu</a:t>
            </a:r>
            <a:r>
              <a:rPr sz="2800" dirty="0" smtClean="0"/>
              <a:t>; n/l…).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sz="2800" dirty="0" err="1" smtClean="0"/>
              <a:t>Tăng</a:t>
            </a:r>
            <a:r>
              <a:rPr sz="2800" dirty="0" smtClean="0"/>
              <a:t> WCPM &amp; </a:t>
            </a:r>
            <a:r>
              <a:rPr sz="2800" dirty="0" err="1" smtClean="0"/>
              <a:t>hiểu</a:t>
            </a:r>
            <a:r>
              <a:rPr sz="2800" dirty="0" smtClean="0"/>
              <a:t> </a:t>
            </a:r>
            <a:r>
              <a:rPr sz="2800" dirty="0" err="1" smtClean="0"/>
              <a:t>nội</a:t>
            </a:r>
            <a:r>
              <a:rPr sz="2800" dirty="0" smtClean="0"/>
              <a:t> dung; </a:t>
            </a:r>
            <a:r>
              <a:rPr sz="2800" dirty="0" err="1" smtClean="0"/>
              <a:t>theo</a:t>
            </a:r>
            <a:r>
              <a:rPr sz="2800" dirty="0" smtClean="0"/>
              <a:t> </a:t>
            </a:r>
            <a:r>
              <a:rPr sz="2800" dirty="0" err="1" smtClean="0"/>
              <a:t>dõi</a:t>
            </a:r>
            <a:r>
              <a:rPr sz="2800" dirty="0" smtClean="0"/>
              <a:t> </a:t>
            </a:r>
            <a:r>
              <a:rPr sz="2800" dirty="0" err="1" smtClean="0"/>
              <a:t>tiến</a:t>
            </a:r>
            <a:r>
              <a:rPr sz="2800" dirty="0" smtClean="0"/>
              <a:t> </a:t>
            </a:r>
            <a:r>
              <a:rPr sz="2800" dirty="0" err="1" smtClean="0"/>
              <a:t>bộ</a:t>
            </a:r>
            <a:r>
              <a:rPr sz="2800" dirty="0" smtClean="0"/>
              <a:t> &amp; </a:t>
            </a:r>
            <a:r>
              <a:rPr sz="2800" dirty="0" err="1" smtClean="0"/>
              <a:t>gợi</a:t>
            </a:r>
            <a:r>
              <a:rPr sz="2800" dirty="0" smtClean="0"/>
              <a:t> ý </a:t>
            </a:r>
            <a:r>
              <a:rPr sz="2800" dirty="0" err="1" smtClean="0"/>
              <a:t>ưu</a:t>
            </a:r>
            <a:r>
              <a:rPr sz="2800" dirty="0" smtClean="0"/>
              <a:t> </a:t>
            </a:r>
            <a:r>
              <a:rPr sz="2800" dirty="0" err="1" smtClean="0"/>
              <a:t>tiên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941" y="1828800"/>
            <a:ext cx="4958418" cy="38070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Cách tiếp cận sư phạm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573278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/>
              <a:t>Structured Literacy +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(</a:t>
            </a:r>
            <a:r>
              <a:rPr dirty="0" err="1"/>
              <a:t>Nghe</a:t>
            </a:r>
            <a:r>
              <a:rPr dirty="0"/>
              <a:t>–</a:t>
            </a:r>
            <a:r>
              <a:rPr dirty="0" err="1"/>
              <a:t>Nhìn</a:t>
            </a:r>
            <a:r>
              <a:rPr dirty="0"/>
              <a:t>–</a:t>
            </a:r>
            <a:r>
              <a:rPr dirty="0" err="1"/>
              <a:t>Nhấn</a:t>
            </a:r>
            <a:r>
              <a:rPr dirty="0"/>
              <a:t>–</a:t>
            </a:r>
            <a:r>
              <a:rPr dirty="0" err="1"/>
              <a:t>Nói</a:t>
            </a:r>
            <a:r>
              <a:rPr dirty="0"/>
              <a:t>).</a:t>
            </a:r>
          </a:p>
          <a:p>
            <a:pPr marL="457200" indent="-457200"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dirty="0" smtClean="0"/>
              <a:t>: </a:t>
            </a:r>
            <a:r>
              <a:rPr dirty="0"/>
              <a:t>PA → Cards (SRS) → </a:t>
            </a:r>
            <a:r>
              <a:rPr dirty="0" smtClean="0"/>
              <a:t>Reading</a:t>
            </a:r>
            <a:r>
              <a:rPr lang="en-US" dirty="0"/>
              <a:t> </a:t>
            </a:r>
            <a:r>
              <a:rPr lang="en-US" dirty="0" smtClean="0"/>
              <a:t>→ Game </a:t>
            </a:r>
            <a:r>
              <a:rPr dirty="0" smtClean="0"/>
              <a:t>.</a:t>
            </a:r>
            <a:endParaRPr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: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đoán</a:t>
            </a:r>
            <a:r>
              <a:rPr dirty="0" smtClean="0"/>
              <a:t> </a:t>
            </a:r>
            <a:r>
              <a:rPr dirty="0"/>
              <a:t>→ </a:t>
            </a:r>
            <a:r>
              <a:rPr lang="en-US" dirty="0" err="1" smtClean="0"/>
              <a:t>Trải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dirty="0" smtClean="0"/>
              <a:t> →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→ </a:t>
            </a:r>
            <a:r>
              <a:rPr dirty="0" err="1"/>
              <a:t>Củng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Quy trình 5 bước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Kiến trúc &amp; công nghệ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635508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/>
              <a:t>PWA offline‑first; Web/Android/iOS; Cordova/Capacitor.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/>
              <a:t>TTS vi‑VN; Voice UI; Recorder; Spotlight/Pacer/Echo.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/>
              <a:t>Dashboard, CSV/PDF;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Apps Script (opt‑in).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🧱⚙️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Kiến trúc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PA – Segment (ghép mảnh)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“</a:t>
            </a:r>
            <a:r>
              <a:rPr dirty="0" err="1"/>
              <a:t>tr</a:t>
            </a:r>
            <a:r>
              <a:rPr dirty="0"/>
              <a:t>–</a:t>
            </a:r>
            <a:r>
              <a:rPr dirty="0" err="1"/>
              <a:t>anh</a:t>
            </a:r>
            <a:r>
              <a:rPr dirty="0"/>
              <a:t> → </a:t>
            </a:r>
            <a:r>
              <a:rPr dirty="0" err="1"/>
              <a:t>tranh</a:t>
            </a:r>
            <a:r>
              <a:rPr dirty="0"/>
              <a:t>”, “</a:t>
            </a:r>
            <a:r>
              <a:rPr dirty="0" err="1"/>
              <a:t>gh</a:t>
            </a:r>
            <a:r>
              <a:rPr dirty="0"/>
              <a:t>–é → </a:t>
            </a:r>
            <a:r>
              <a:rPr dirty="0" err="1"/>
              <a:t>ghé</a:t>
            </a:r>
            <a:r>
              <a:rPr dirty="0"/>
              <a:t>”, “</a:t>
            </a:r>
            <a:r>
              <a:rPr dirty="0" err="1"/>
              <a:t>qu</a:t>
            </a:r>
            <a:r>
              <a:rPr dirty="0"/>
              <a:t>–ả → </a:t>
            </a:r>
            <a:r>
              <a:rPr dirty="0" err="1"/>
              <a:t>quả</a:t>
            </a:r>
            <a:r>
              <a:rPr dirty="0"/>
              <a:t>”.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Nhấn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c/k/</a:t>
            </a:r>
            <a:r>
              <a:rPr dirty="0" err="1"/>
              <a:t>qu</a:t>
            </a:r>
            <a:r>
              <a:rPr dirty="0"/>
              <a:t>; ng/</a:t>
            </a:r>
            <a:r>
              <a:rPr dirty="0" err="1"/>
              <a:t>ngh</a:t>
            </a:r>
            <a:r>
              <a:rPr dirty="0"/>
              <a:t>; g/</a:t>
            </a:r>
            <a:r>
              <a:rPr dirty="0" err="1"/>
              <a:t>gh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;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ngắn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chữ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Ghép onset–rime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PA – Tone &amp;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Tone: 6 thanh cùng base; mã màu nhất quán; cặp khó sắc/ngã, huyền/hỏi.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Pair: cặp tối thiểu theo tag (s/x, ch/tr, ng/ngh, g/gh, c/k/qu, n/l, d/gi/r).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Gợi ý tầng bậc: 🐢 nghe chậm → manh mối → đối chiếu.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🎵⚖️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Thanh &amp; cặp tối thiểu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Cards (SRS)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Thẻ: 1 tiếng có dấu + emoji; tô màu theo 6 thanh.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SM‑2 rút gọn: Q=5/3/1 → khoảng cách 1–60 ngày; “đã vững” I≥14d.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Vòng 60s tăng nhịp; filter tag; gợi ý tag yếu 7 ngày.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Ôn đúng lúc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Reading – 5 bước &amp; chỉ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rPr dirty="0"/>
              <a:t>B1 </a:t>
            </a:r>
            <a:r>
              <a:rPr dirty="0" err="1"/>
              <a:t>Chọn</a:t>
            </a:r>
            <a:r>
              <a:rPr dirty="0"/>
              <a:t> • B2 </a:t>
            </a:r>
            <a:r>
              <a:rPr dirty="0" err="1"/>
              <a:t>Đọc</a:t>
            </a:r>
            <a:r>
              <a:rPr dirty="0"/>
              <a:t> (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) • B3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• B4 </a:t>
            </a:r>
            <a:r>
              <a:rPr dirty="0" err="1"/>
              <a:t>Hỏi</a:t>
            </a:r>
            <a:r>
              <a:rPr dirty="0"/>
              <a:t> • B5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: WCPM, Accuracy,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;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: Spotlight/Pacer/Echo; Replay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📖⏱️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Flow 1→5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Game &amp; Adaptive/Dashboard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Game: 60s; Tone/Tag mode; bóng đúng có vòng sáng; combo &amp; điểm.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Adaptive: ưu tiên tag yếu; trộn 70–80% mục tiêu + 20–30% dễ.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Dashboard: WCPM/Accuracy; lỗi theo tag; due/mastered; gợi ý tuần.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🎈📊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Động lực &amp; theo dõi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Quyền riêng tư &amp; lưu trữ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Thu tối thiểu – ẩn danh – do người dùng kiểm soát.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Lưu localStorage/IndexedDB; đồng bộ HTTPS+SECRET (opt‑in).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Unicode NFC; Intl.Segmenter('vi'); SW offline‑first.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An toàn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Hạn chế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TTS (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/</a:t>
            </a:r>
            <a:r>
              <a:rPr dirty="0" err="1"/>
              <a:t>ngã</a:t>
            </a:r>
            <a:r>
              <a:rPr dirty="0"/>
              <a:t>/</a:t>
            </a:r>
            <a:r>
              <a:rPr dirty="0" err="1"/>
              <a:t>nặng</a:t>
            </a:r>
            <a:r>
              <a:rPr dirty="0"/>
              <a:t>).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/>
              <a:t>SRS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chấm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thiên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;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nhẹ</a:t>
            </a:r>
            <a:r>
              <a:rPr dirty="0"/>
              <a:t>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&amp; </a:t>
            </a:r>
            <a:r>
              <a:rPr dirty="0" err="1"/>
              <a:t>phạm</a:t>
            </a:r>
            <a:r>
              <a:rPr dirty="0"/>
              <a:t> vi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;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Nhận diện thách thức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Khả năng mở rộng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592328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tag/level/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; Reading 3–6; </a:t>
            </a: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;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giáo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; guided/repeated reading.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 TTS/contour; </a:t>
            </a:r>
            <a:r>
              <a:rPr dirty="0" err="1"/>
              <a:t>heatmap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trưởng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Roadmap kỹ thuật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Đánh giá – phương án &amp; công cụ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535178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Đối tượng: Chuyên gia • Phụ huynh • Học sinh; thiết bị Android/iOS.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Phiên 10–20 phút; 4 phiếu: CG, PH, HS, Quan sát; quy trình đồng thuận.</a:t>
            </a:r>
          </a:p>
          <a:p>
            <a:pPr>
              <a:defRPr sz="2400">
                <a:solidFill>
                  <a:srgbClr val="374151"/>
                </a:solidFill>
              </a:defRPr>
            </a:pPr>
            <a:r>
              <a:t>Ẩn danh; không thu PII/audio mặc định; opt‑in đồng bộ.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Thiết kế đánh giá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Kết quả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5943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;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bám</a:t>
            </a:r>
            <a:r>
              <a:rPr dirty="0"/>
              <a:t> </a:t>
            </a:r>
            <a:r>
              <a:rPr dirty="0" err="1"/>
              <a:t>khuyến</a:t>
            </a:r>
            <a:r>
              <a:rPr dirty="0"/>
              <a:t> </a:t>
            </a:r>
            <a:r>
              <a:rPr dirty="0" err="1"/>
              <a:t>nghị</a:t>
            </a:r>
            <a:r>
              <a:rPr dirty="0"/>
              <a:t>; </a:t>
            </a:r>
            <a:r>
              <a:rPr dirty="0" err="1"/>
              <a:t>bấm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thấp</a:t>
            </a:r>
            <a:r>
              <a:rPr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Hứng</a:t>
            </a:r>
            <a:r>
              <a:rPr dirty="0"/>
              <a:t> </a:t>
            </a:r>
            <a:r>
              <a:rPr dirty="0" err="1"/>
              <a:t>thú</a:t>
            </a:r>
            <a:r>
              <a:rPr dirty="0"/>
              <a:t> </a:t>
            </a:r>
            <a:r>
              <a:rPr dirty="0" err="1"/>
              <a:t>vừa</a:t>
            </a:r>
            <a:r>
              <a:rPr dirty="0"/>
              <a:t>–</a:t>
            </a:r>
            <a:r>
              <a:rPr dirty="0" err="1"/>
              <a:t>cao</a:t>
            </a:r>
            <a:r>
              <a:rPr dirty="0"/>
              <a:t>; </a:t>
            </a:r>
            <a:r>
              <a:rPr dirty="0" err="1"/>
              <a:t>nhu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chậm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ở </a:t>
            </a:r>
            <a:r>
              <a:rPr dirty="0" err="1"/>
              <a:t>hỏi</a:t>
            </a:r>
            <a:r>
              <a:rPr dirty="0"/>
              <a:t>/</a:t>
            </a:r>
            <a:r>
              <a:rPr dirty="0" err="1"/>
              <a:t>ngã</a:t>
            </a:r>
            <a:r>
              <a:rPr dirty="0"/>
              <a:t>/</a:t>
            </a:r>
            <a:r>
              <a:rPr dirty="0" err="1"/>
              <a:t>nặng</a:t>
            </a:r>
            <a:r>
              <a:rPr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thuận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: </a:t>
            </a:r>
            <a:r>
              <a:rPr dirty="0" err="1"/>
              <a:t>sư</a:t>
            </a:r>
            <a:r>
              <a:rPr dirty="0"/>
              <a:t> </a:t>
            </a:r>
            <a:r>
              <a:rPr dirty="0" err="1"/>
              <a:t>phạm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, UI, Spotlight/Pacer/Echo,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</a:t>
            </a:r>
            <a:r>
              <a:rPr dirty="0" err="1"/>
              <a:t>Việt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Tín hiệu tích cực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374151"/>
                </a:solidFill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828800"/>
            <a:ext cx="636016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khoa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–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,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thấp</a:t>
            </a:r>
            <a:r>
              <a:rPr dirty="0"/>
              <a:t>,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lí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Structured Literacy </a:t>
            </a:r>
            <a:r>
              <a:rPr dirty="0" err="1"/>
              <a:t>Việt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rgbClr val="374151"/>
                </a:solidFill>
              </a:defRPr>
            </a:pP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: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/</a:t>
            </a:r>
            <a:r>
              <a:rPr dirty="0" err="1"/>
              <a:t>giọng</a:t>
            </a:r>
            <a:r>
              <a:rPr dirty="0"/>
              <a:t> TTS,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GV,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dài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575" y="1828800"/>
            <a:ext cx="38404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455" y="219456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/>
              <a:t>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575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1626F"/>
                </a:solidFill>
              </a:rPr>
              <a:t>Thông điệp chốt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0778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51626F"/>
                </a:solidFill>
              </a:rPr>
              <a:t>https://ddh14.github.io/Doc_de/</a:t>
            </a:r>
            <a:endParaRPr sz="1100" dirty="0">
              <a:solidFill>
                <a:srgbClr val="51626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839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Vấn đề &amp; bối cảnh</vt:lpstr>
      <vt:lpstr>Mục tiêu của Đọc Dễ</vt:lpstr>
      <vt:lpstr>Cách tiếp cận sư phạm</vt:lpstr>
      <vt:lpstr>Kiến trúc &amp; công nghệ</vt:lpstr>
      <vt:lpstr>PA – Segment (ghép mảnh)</vt:lpstr>
      <vt:lpstr>PA – Tone &amp; Pair</vt:lpstr>
      <vt:lpstr>Cards (SRS)</vt:lpstr>
      <vt:lpstr>Reading – 5 bước &amp; chỉ số</vt:lpstr>
      <vt:lpstr>Game &amp; Adaptive/Dashboard</vt:lpstr>
      <vt:lpstr>Quyền riêng tư &amp; lưu trữ</vt:lpstr>
      <vt:lpstr>Hạn chế</vt:lpstr>
      <vt:lpstr>Khả năng mở rộng</vt:lpstr>
      <vt:lpstr>Đánh giá – phương án &amp; công cụ</vt:lpstr>
      <vt:lpstr>Kết quả chính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7</cp:revision>
  <dcterms:created xsi:type="dcterms:W3CDTF">2013-01-27T09:14:16Z</dcterms:created>
  <dcterms:modified xsi:type="dcterms:W3CDTF">2025-12-13T09:42:10Z</dcterms:modified>
  <cp:category/>
</cp:coreProperties>
</file>